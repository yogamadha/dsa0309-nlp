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256" r:id="rId2"/>
    <p:sldId id="296" r:id="rId3"/>
    <p:sldId id="304" r:id="rId4"/>
    <p:sldId id="303" r:id="rId5"/>
    <p:sldId id="307" r:id="rId6"/>
    <p:sldId id="310" r:id="rId7"/>
    <p:sldId id="305" r:id="rId8"/>
    <p:sldId id="306" r:id="rId9"/>
    <p:sldId id="308" r:id="rId10"/>
    <p:sldId id="312" r:id="rId11"/>
    <p:sldId id="311" r:id="rId12"/>
    <p:sldId id="313" r:id="rId13"/>
    <p:sldId id="314" r:id="rId14"/>
    <p:sldId id="316" r:id="rId15"/>
    <p:sldId id="318" r:id="rId16"/>
    <p:sldId id="320" r:id="rId17"/>
    <p:sldId id="319" r:id="rId18"/>
    <p:sldId id="288" r:id="rId19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howGuides="1">
      <p:cViewPr varScale="1">
        <p:scale>
          <a:sx n="78" d="100"/>
          <a:sy n="78" d="100"/>
        </p:scale>
        <p:origin x="850" y="62"/>
      </p:cViewPr>
      <p:guideLst>
        <p:guide orient="horz" pos="2880"/>
        <p:guide pos="216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321D70-E892-43A2-B663-C229C3E17C20}" type="datetimeFigureOut">
              <a:rPr lang="en-IN" smtClean="0"/>
              <a:t>12-10-2026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899D8B-47E7-409C-BBBA-B74D81E8A85C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1" i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50" b="1" i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50" b="1" i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50" b="1" i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e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4775" y="0"/>
            <a:ext cx="1381125" cy="1133475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959260" y="0"/>
            <a:ext cx="1141425" cy="1216152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248025" y="229869"/>
            <a:ext cx="5695949" cy="11271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1" i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54405" y="1621472"/>
            <a:ext cx="9318625" cy="46081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/>
          <p:nvPr/>
        </p:nvSpPr>
        <p:spPr>
          <a:xfrm>
            <a:off x="8077200" y="4766535"/>
            <a:ext cx="1511300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b="1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Presented</a:t>
            </a:r>
            <a:r>
              <a:rPr sz="2000" b="1" spc="-9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25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by:</a:t>
            </a:r>
            <a:endParaRPr sz="200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229600" y="5186173"/>
            <a:ext cx="3511708" cy="8560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12700" algn="l">
              <a:spcBef>
                <a:spcPts val="95"/>
              </a:spcBef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Yoga Madha A(192425058)</a:t>
            </a:r>
          </a:p>
          <a:p>
            <a:pPr marL="12700" marR="5080" indent="12700" algn="l">
              <a:spcBef>
                <a:spcPts val="95"/>
              </a:spcBef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Lathika S(192425066)</a:t>
            </a:r>
          </a:p>
          <a:p>
            <a:pPr lvl="0" algn="l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 Hymavathi(192425397)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700087" y="4788658"/>
            <a:ext cx="4238625" cy="32380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n-US" sz="2000" b="1" dirty="0" err="1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S</a:t>
            </a:r>
            <a:r>
              <a:rPr sz="2000" b="1" dirty="0" err="1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uperv</a:t>
            </a:r>
            <a:r>
              <a:rPr lang="en-IN" sz="2000" b="1" dirty="0" err="1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ised</a:t>
            </a:r>
            <a:r>
              <a:rPr lang="en-IN" sz="2000" b="1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 by</a:t>
            </a:r>
            <a:r>
              <a:rPr sz="2000" b="1" spc="-5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:</a:t>
            </a:r>
            <a:endParaRPr sz="200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9" name="object 9"/>
          <p:cNvSpPr txBox="1"/>
          <p:nvPr/>
        </p:nvSpPr>
        <p:spPr>
          <a:xfrm rot="10800000" flipV="1">
            <a:off x="914400" y="5220586"/>
            <a:ext cx="2209797" cy="318677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85"/>
              </a:spcBef>
            </a:pPr>
            <a:r>
              <a:rPr lang="en-IN" sz="2000" spc="-10" dirty="0">
                <a:latin typeface="Times New Roman" panose="02020603050405020304"/>
                <a:cs typeface="Times New Roman" panose="02020603050405020304"/>
              </a:rPr>
              <a:t>Dr R </a:t>
            </a:r>
            <a:r>
              <a:rPr lang="en-IN" sz="1800" dirty="0"/>
              <a:t>Prem Kumar </a:t>
            </a:r>
            <a:endParaRPr lang="en-IN" sz="2000" spc="-1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143000" y="2897494"/>
            <a:ext cx="1012703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/>
            <a:r>
              <a:rPr lang="en-IN" sz="3600" b="1" dirty="0"/>
              <a:t>Derivational Morphology and Vocabulary Expansion</a:t>
            </a:r>
            <a:endParaRPr lang="en-US" sz="3600" b="1" i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927" y="0"/>
            <a:ext cx="10957034" cy="167205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73B56E5-F153-648B-D7A7-9EA152AC3B9A}"/>
              </a:ext>
            </a:extLst>
          </p:cNvPr>
          <p:cNvSpPr txBox="1"/>
          <p:nvPr/>
        </p:nvSpPr>
        <p:spPr>
          <a:xfrm>
            <a:off x="2819400" y="1784775"/>
            <a:ext cx="6553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DSA0309 - NATURAL LANGUAGE PROCESSING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21E5613-27CD-900B-90AA-658B7817C0D0}"/>
              </a:ext>
            </a:extLst>
          </p:cNvPr>
          <p:cNvSpPr txBox="1"/>
          <p:nvPr/>
        </p:nvSpPr>
        <p:spPr>
          <a:xfrm>
            <a:off x="2993444" y="2336218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CO1 AT2-TECHNICAL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F72953-7A74-4986-83D4-1A0803D475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0401" y="451553"/>
            <a:ext cx="6086474" cy="677108"/>
          </a:xfrm>
        </p:spPr>
        <p:txBody>
          <a:bodyPr/>
          <a:lstStyle/>
          <a:p>
            <a:pPr algn="ctr"/>
            <a:r>
              <a:rPr lang="en-IN" sz="4400" dirty="0"/>
              <a:t>INTRODUCTION</a:t>
            </a:r>
          </a:p>
        </p:txBody>
      </p:sp>
      <p:pic>
        <p:nvPicPr>
          <p:cNvPr id="5" name="object 3">
            <a:extLst>
              <a:ext uri="{FF2B5EF4-FFF2-40B4-BE49-F238E27FC236}">
                <a16:creationId xmlns:a16="http://schemas.microsoft.com/office/drawing/2014/main" id="{F88B50AB-F476-4626-92B3-829E40035B4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5681" y="218607"/>
            <a:ext cx="1343024" cy="1143000"/>
          </a:xfrm>
          <a:prstGeom prst="rect">
            <a:avLst/>
          </a:prstGeom>
        </p:spPr>
      </p:pic>
      <p:pic>
        <p:nvPicPr>
          <p:cNvPr id="6" name="object 4">
            <a:extLst>
              <a:ext uri="{FF2B5EF4-FFF2-40B4-BE49-F238E27FC236}">
                <a16:creationId xmlns:a16="http://schemas.microsoft.com/office/drawing/2014/main" id="{4BC6E50D-33C3-4762-B2D8-FBA29613265A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918571" y="58421"/>
            <a:ext cx="1109938" cy="109727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12638C4-E169-C3DC-4A25-6F9BE6B8CC97}"/>
              </a:ext>
            </a:extLst>
          </p:cNvPr>
          <p:cNvSpPr txBox="1"/>
          <p:nvPr/>
        </p:nvSpPr>
        <p:spPr>
          <a:xfrm>
            <a:off x="225681" y="1981200"/>
            <a:ext cx="6479919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400" dirty="0"/>
              <a:t>Morphology is the study of word structure and word formation.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400" dirty="0"/>
              <a:t>Derivational morphology explains how new words are formed from existing words.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400" dirty="0"/>
              <a:t>Prefixes and suffixes can change a word's meaning or grammatical category.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400" dirty="0"/>
              <a:t>Vocabulary expansion helps learners understand and use new words.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400" dirty="0"/>
              <a:t>It is important in linguistics, education, and Natural Language Processing (NLP).</a:t>
            </a:r>
          </a:p>
        </p:txBody>
      </p:sp>
      <p:pic>
        <p:nvPicPr>
          <p:cNvPr id="3" name="Picture 2" descr="Como aumentar meu vocabulário em inglês?">
            <a:extLst>
              <a:ext uri="{FF2B5EF4-FFF2-40B4-BE49-F238E27FC236}">
                <a16:creationId xmlns:a16="http://schemas.microsoft.com/office/drawing/2014/main" id="{07268086-68ED-97AD-1DA3-95E2611DE1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2902" y="1676399"/>
            <a:ext cx="4751898" cy="4599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74757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F72953-7A74-4986-83D4-1A0803D475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457201"/>
            <a:ext cx="8323577" cy="553998"/>
          </a:xfrm>
        </p:spPr>
        <p:txBody>
          <a:bodyPr/>
          <a:lstStyle/>
          <a:p>
            <a:pPr algn="ctr"/>
            <a:r>
              <a:rPr lang="en-IN" sz="3600" dirty="0"/>
              <a:t>Aim and Objectives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object 3">
            <a:extLst>
              <a:ext uri="{FF2B5EF4-FFF2-40B4-BE49-F238E27FC236}">
                <a16:creationId xmlns:a16="http://schemas.microsoft.com/office/drawing/2014/main" id="{F88B50AB-F476-4626-92B3-829E40035B4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2888" y="229869"/>
            <a:ext cx="1343024" cy="1143000"/>
          </a:xfrm>
          <a:prstGeom prst="rect">
            <a:avLst/>
          </a:prstGeom>
        </p:spPr>
      </p:pic>
      <p:pic>
        <p:nvPicPr>
          <p:cNvPr id="6" name="object 4">
            <a:extLst>
              <a:ext uri="{FF2B5EF4-FFF2-40B4-BE49-F238E27FC236}">
                <a16:creationId xmlns:a16="http://schemas.microsoft.com/office/drawing/2014/main" id="{4BC6E50D-33C3-4762-B2D8-FBA29613265A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39174" y="74799"/>
            <a:ext cx="1109938" cy="109727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8E6D4B3-20B7-9CDC-2186-900F3220A1B7}"/>
              </a:ext>
            </a:extLst>
          </p:cNvPr>
          <p:cNvSpPr txBox="1"/>
          <p:nvPr/>
        </p:nvSpPr>
        <p:spPr>
          <a:xfrm>
            <a:off x="242888" y="1340914"/>
            <a:ext cx="6615112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Aim: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dirty="0"/>
              <a:t> To </a:t>
            </a:r>
            <a:r>
              <a:rPr lang="en-IN" sz="2400" dirty="0" err="1"/>
              <a:t>analyze</a:t>
            </a:r>
            <a:r>
              <a:rPr lang="en-IN" sz="2400" dirty="0"/>
              <a:t> derivational processes and their impact on vocabulary expansion, semantic interpretation, and language understanding.</a:t>
            </a:r>
          </a:p>
          <a:p>
            <a:r>
              <a:rPr lang="en-IN" sz="2400" b="1" dirty="0"/>
              <a:t>Objectives: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400" dirty="0"/>
              <a:t>Identify common derivational prefixes and suffixes.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400" dirty="0"/>
              <a:t>Understand how root words form new words.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400" dirty="0" err="1"/>
              <a:t>Analyze</a:t>
            </a:r>
            <a:r>
              <a:rPr lang="en-IN" sz="2400" dirty="0"/>
              <a:t> changes in meaning and grammatical categories.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400" dirty="0"/>
              <a:t>Explore the role of derivation in vocabulary learning.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400" dirty="0"/>
              <a:t>Study applications in NLP and automated language analysis.</a:t>
            </a:r>
          </a:p>
        </p:txBody>
      </p:sp>
      <p:pic>
        <p:nvPicPr>
          <p:cNvPr id="3" name="Picture 2" descr="NEWS CLAIMS">
            <a:extLst>
              <a:ext uri="{FF2B5EF4-FFF2-40B4-BE49-F238E27FC236}">
                <a16:creationId xmlns:a16="http://schemas.microsoft.com/office/drawing/2014/main" id="{1CF2D4B6-AF53-D360-2CF0-7A45A05698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6600" y="1600200"/>
            <a:ext cx="4658834" cy="4658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26391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F72953-7A74-4986-83D4-1A0803D475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0" y="287914"/>
            <a:ext cx="7478403" cy="615553"/>
          </a:xfrm>
        </p:spPr>
        <p:txBody>
          <a:bodyPr/>
          <a:lstStyle/>
          <a:p>
            <a:pPr algn="ctr"/>
            <a:r>
              <a:rPr lang="en-IN" sz="4000" dirty="0"/>
              <a:t>Basic Concepts of Morphology</a:t>
            </a:r>
            <a:endParaRPr lang="en-US" sz="4000" b="1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object 3">
            <a:extLst>
              <a:ext uri="{FF2B5EF4-FFF2-40B4-BE49-F238E27FC236}">
                <a16:creationId xmlns:a16="http://schemas.microsoft.com/office/drawing/2014/main" id="{F88B50AB-F476-4626-92B3-829E40035B4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5514" y="131693"/>
            <a:ext cx="1343024" cy="1143000"/>
          </a:xfrm>
          <a:prstGeom prst="rect">
            <a:avLst/>
          </a:prstGeom>
        </p:spPr>
      </p:pic>
      <p:pic>
        <p:nvPicPr>
          <p:cNvPr id="6" name="object 4">
            <a:extLst>
              <a:ext uri="{FF2B5EF4-FFF2-40B4-BE49-F238E27FC236}">
                <a16:creationId xmlns:a16="http://schemas.microsoft.com/office/drawing/2014/main" id="{4BC6E50D-33C3-4762-B2D8-FBA29613265A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41632" y="44113"/>
            <a:ext cx="1109938" cy="109727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3B95080-FD0A-501C-8914-06B14433AFEE}"/>
              </a:ext>
            </a:extLst>
          </p:cNvPr>
          <p:cNvSpPr txBox="1"/>
          <p:nvPr/>
        </p:nvSpPr>
        <p:spPr>
          <a:xfrm>
            <a:off x="304800" y="1447800"/>
            <a:ext cx="6012886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sz="2400" b="1" dirty="0"/>
              <a:t>Morpheme: </a:t>
            </a:r>
            <a:r>
              <a:rPr lang="en-IN" sz="2400" dirty="0"/>
              <a:t>The smallest meaningful unit of a word.</a:t>
            </a:r>
          </a:p>
          <a:p>
            <a:pPr lvl="0"/>
            <a:r>
              <a:rPr lang="en-IN" sz="2400" b="1" dirty="0"/>
              <a:t>Root word: </a:t>
            </a:r>
            <a:r>
              <a:rPr lang="en-IN" sz="2400" dirty="0"/>
              <a:t>The central part that carries the basic meaning.</a:t>
            </a:r>
          </a:p>
          <a:p>
            <a:pPr lvl="0"/>
            <a:r>
              <a:rPr lang="en-IN" sz="2400" b="1" dirty="0"/>
              <a:t>Prefix: </a:t>
            </a:r>
            <a:r>
              <a:rPr lang="en-IN" sz="2400" dirty="0"/>
              <a:t>An element added before a root word.</a:t>
            </a:r>
          </a:p>
          <a:p>
            <a:pPr lvl="0"/>
            <a:r>
              <a:rPr lang="en-IN" sz="2400" b="1" dirty="0"/>
              <a:t>Suffix: </a:t>
            </a:r>
            <a:r>
              <a:rPr lang="en-IN" sz="2400" dirty="0"/>
              <a:t>An element added after a root word.</a:t>
            </a:r>
          </a:p>
          <a:p>
            <a:pPr lvl="0"/>
            <a:r>
              <a:rPr lang="en-IN" sz="2400" dirty="0"/>
              <a:t>Derived word: A new word formed by adding a derivational affix.</a:t>
            </a:r>
          </a:p>
          <a:p>
            <a:r>
              <a:rPr lang="en-IN" sz="2400" dirty="0">
                <a:solidFill>
                  <a:srgbClr val="FF0000"/>
                </a:solidFill>
              </a:rPr>
              <a:t>Examples:</a:t>
            </a:r>
          </a:p>
          <a:p>
            <a:pPr lvl="0"/>
            <a:r>
              <a:rPr lang="en-IN" sz="2400" dirty="0"/>
              <a:t>un + happy = unhappy</a:t>
            </a:r>
          </a:p>
          <a:p>
            <a:pPr lvl="0"/>
            <a:r>
              <a:rPr lang="en-IN" sz="2400" dirty="0"/>
              <a:t>teach + er = teacher</a:t>
            </a:r>
          </a:p>
          <a:p>
            <a:pPr lvl="0"/>
            <a:r>
              <a:rPr lang="en-IN" sz="2400" dirty="0"/>
              <a:t>happy + ness = happiness</a:t>
            </a:r>
          </a:p>
        </p:txBody>
      </p:sp>
      <p:pic>
        <p:nvPicPr>
          <p:cNvPr id="3" name="Picture 2" descr="Recognise root words">
            <a:extLst>
              <a:ext uri="{FF2B5EF4-FFF2-40B4-BE49-F238E27FC236}">
                <a16:creationId xmlns:a16="http://schemas.microsoft.com/office/drawing/2014/main" id="{623B95FB-1174-1907-5AF7-111D2E382B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1609525"/>
            <a:ext cx="5143500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82397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F72953-7A74-4986-83D4-1A0803D475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520248"/>
            <a:ext cx="8839200" cy="553998"/>
          </a:xfrm>
        </p:spPr>
        <p:txBody>
          <a:bodyPr/>
          <a:lstStyle/>
          <a:p>
            <a:pPr algn="ctr"/>
            <a:r>
              <a:rPr lang="en-IN" sz="3600" dirty="0"/>
              <a:t>Derivational vs. Inflectional Morphology</a:t>
            </a:r>
            <a:endParaRPr lang="en-IN" sz="3600" b="1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object 3">
            <a:extLst>
              <a:ext uri="{FF2B5EF4-FFF2-40B4-BE49-F238E27FC236}">
                <a16:creationId xmlns:a16="http://schemas.microsoft.com/office/drawing/2014/main" id="{F88B50AB-F476-4626-92B3-829E40035B4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2888" y="229869"/>
            <a:ext cx="1343024" cy="1143000"/>
          </a:xfrm>
          <a:prstGeom prst="rect">
            <a:avLst/>
          </a:prstGeom>
        </p:spPr>
      </p:pic>
      <p:pic>
        <p:nvPicPr>
          <p:cNvPr id="6" name="object 4">
            <a:extLst>
              <a:ext uri="{FF2B5EF4-FFF2-40B4-BE49-F238E27FC236}">
                <a16:creationId xmlns:a16="http://schemas.microsoft.com/office/drawing/2014/main" id="{4BC6E50D-33C3-4762-B2D8-FBA29613265A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39174" y="205288"/>
            <a:ext cx="1109938" cy="1097279"/>
          </a:xfrm>
          <a:prstGeom prst="rect">
            <a:avLst/>
          </a:prstGeom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BCF760B-07AA-AA5F-5AD1-47B940BFB8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5489325"/>
              </p:ext>
            </p:extLst>
          </p:nvPr>
        </p:nvGraphicFramePr>
        <p:xfrm>
          <a:off x="954088" y="1620838"/>
          <a:ext cx="9318626" cy="2194560"/>
        </p:xfrm>
        <a:graphic>
          <a:graphicData uri="http://schemas.openxmlformats.org/drawingml/2006/table">
            <a:tbl>
              <a:tblPr/>
              <a:tblGrid>
                <a:gridCol w="4659313">
                  <a:extLst>
                    <a:ext uri="{9D8B030D-6E8A-4147-A177-3AD203B41FA5}">
                      <a16:colId xmlns:a16="http://schemas.microsoft.com/office/drawing/2014/main" val="2914572690"/>
                    </a:ext>
                  </a:extLst>
                </a:gridCol>
                <a:gridCol w="4659313">
                  <a:extLst>
                    <a:ext uri="{9D8B030D-6E8A-4147-A177-3AD203B41FA5}">
                      <a16:colId xmlns:a16="http://schemas.microsoft.com/office/drawing/2014/main" val="41855855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71721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73603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04167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68846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42572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1630315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5B0C284-CD22-13DC-18B4-E58C8EA77E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0723459"/>
              </p:ext>
            </p:extLst>
          </p:nvPr>
        </p:nvGraphicFramePr>
        <p:xfrm>
          <a:off x="954088" y="1620838"/>
          <a:ext cx="10536068" cy="276635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268034">
                  <a:extLst>
                    <a:ext uri="{9D8B030D-6E8A-4147-A177-3AD203B41FA5}">
                      <a16:colId xmlns:a16="http://schemas.microsoft.com/office/drawing/2014/main" val="3122365452"/>
                    </a:ext>
                  </a:extLst>
                </a:gridCol>
                <a:gridCol w="5268034">
                  <a:extLst>
                    <a:ext uri="{9D8B030D-6E8A-4147-A177-3AD203B41FA5}">
                      <a16:colId xmlns:a16="http://schemas.microsoft.com/office/drawing/2014/main" val="3329050058"/>
                    </a:ext>
                  </a:extLst>
                </a:gridCol>
              </a:tblGrid>
              <a:tr h="4610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Derivational Morphology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Inflectional Morphology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9131752"/>
                  </a:ext>
                </a:extLst>
              </a:tr>
              <a:tr h="4610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Creates a new word or lexical meaning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Expresses grammatical information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4831665"/>
                  </a:ext>
                </a:extLst>
              </a:tr>
              <a:tr h="4610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May change the word class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Usually retains the word class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2486301"/>
                  </a:ext>
                </a:extLst>
              </a:tr>
              <a:tr h="4610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happy → happiness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book → books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9500120"/>
                  </a:ext>
                </a:extLst>
              </a:tr>
              <a:tr h="4610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teach → teacher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walk → walked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6702590"/>
                  </a:ext>
                </a:extLst>
              </a:tr>
              <a:tr h="4610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kind → unkind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tall → taller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8734003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28A4541B-E9A0-ECAA-E0CA-7439891FF649}"/>
              </a:ext>
            </a:extLst>
          </p:cNvPr>
          <p:cNvSpPr txBox="1"/>
          <p:nvPr/>
        </p:nvSpPr>
        <p:spPr>
          <a:xfrm>
            <a:off x="1066800" y="4742334"/>
            <a:ext cx="977237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Derivation expands vocabulary by creating related words.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Inflection expresses grammatical features such as tense, number, and comparison.</a:t>
            </a:r>
          </a:p>
        </p:txBody>
      </p:sp>
    </p:spTree>
    <p:extLst>
      <p:ext uri="{BB962C8B-B14F-4D97-AF65-F5344CB8AC3E}">
        <p14:creationId xmlns:p14="http://schemas.microsoft.com/office/powerpoint/2010/main" val="29124066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F72953-7A74-4986-83D4-1A0803D475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1499" y="263013"/>
            <a:ext cx="9268900" cy="1231106"/>
          </a:xfrm>
        </p:spPr>
        <p:txBody>
          <a:bodyPr/>
          <a:lstStyle/>
          <a:p>
            <a:pPr algn="ctr"/>
            <a:r>
              <a:rPr lang="en-IN" sz="4000" dirty="0"/>
              <a:t>PROBLEM STATEMENT AND RESEARCH GAP</a:t>
            </a:r>
          </a:p>
        </p:txBody>
      </p:sp>
      <p:pic>
        <p:nvPicPr>
          <p:cNvPr id="5" name="object 3">
            <a:extLst>
              <a:ext uri="{FF2B5EF4-FFF2-40B4-BE49-F238E27FC236}">
                <a16:creationId xmlns:a16="http://schemas.microsoft.com/office/drawing/2014/main" id="{F88B50AB-F476-4626-92B3-829E40035B4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8475" y="304800"/>
            <a:ext cx="1343024" cy="1143000"/>
          </a:xfrm>
          <a:prstGeom prst="rect">
            <a:avLst/>
          </a:prstGeom>
        </p:spPr>
      </p:pic>
      <p:pic>
        <p:nvPicPr>
          <p:cNvPr id="6" name="object 4">
            <a:extLst>
              <a:ext uri="{FF2B5EF4-FFF2-40B4-BE49-F238E27FC236}">
                <a16:creationId xmlns:a16="http://schemas.microsoft.com/office/drawing/2014/main" id="{4BC6E50D-33C3-4762-B2D8-FBA29613265A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978362" y="106672"/>
            <a:ext cx="1109938" cy="109727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7507AC1-A397-7C4C-579D-B052A85C5EBE}"/>
              </a:ext>
            </a:extLst>
          </p:cNvPr>
          <p:cNvSpPr txBox="1"/>
          <p:nvPr/>
        </p:nvSpPr>
        <p:spPr>
          <a:xfrm>
            <a:off x="533400" y="1454790"/>
            <a:ext cx="746760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Problem Statement</a:t>
            </a:r>
            <a:endParaRPr lang="en-IN" sz="2400" dirty="0"/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400" dirty="0"/>
              <a:t>Learners may struggle to understand unfamiliar derived words.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400" dirty="0"/>
              <a:t>A derived word can have a different meaning or grammatical role from its root.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400" dirty="0"/>
              <a:t>Identifying prefixes and suffixes alone may not reveal the intended meaning.</a:t>
            </a:r>
          </a:p>
          <a:p>
            <a:r>
              <a:rPr lang="en-IN" sz="2400" b="1" dirty="0"/>
              <a:t>Research Gap</a:t>
            </a:r>
            <a:endParaRPr lang="en-IN" sz="2400" dirty="0"/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400" dirty="0"/>
              <a:t>Some words do not follow predictable derivational rules.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400" dirty="0"/>
              <a:t>Context can change the interpretation of a word.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400" dirty="0"/>
              <a:t>A simple system combining morphological analysis and semantic interpretation can support vocabulary learning.</a:t>
            </a:r>
          </a:p>
        </p:txBody>
      </p:sp>
      <p:pic>
        <p:nvPicPr>
          <p:cNvPr id="3" name="Picture 2" descr="morphemes">
            <a:extLst>
              <a:ext uri="{FF2B5EF4-FFF2-40B4-BE49-F238E27FC236}">
                <a16:creationId xmlns:a16="http://schemas.microsoft.com/office/drawing/2014/main" id="{03FE9173-F88C-EA5C-95C7-DF09BF6881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6911" y="1771512"/>
            <a:ext cx="4568428" cy="3683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38767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ject 3">
            <a:extLst>
              <a:ext uri="{FF2B5EF4-FFF2-40B4-BE49-F238E27FC236}">
                <a16:creationId xmlns:a16="http://schemas.microsoft.com/office/drawing/2014/main" id="{F88B50AB-F476-4626-92B3-829E40035B4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2123" y="76200"/>
            <a:ext cx="1343024" cy="1143000"/>
          </a:xfrm>
          <a:prstGeom prst="rect">
            <a:avLst/>
          </a:prstGeom>
        </p:spPr>
      </p:pic>
      <p:pic>
        <p:nvPicPr>
          <p:cNvPr id="6" name="object 4">
            <a:extLst>
              <a:ext uri="{FF2B5EF4-FFF2-40B4-BE49-F238E27FC236}">
                <a16:creationId xmlns:a16="http://schemas.microsoft.com/office/drawing/2014/main" id="{4BC6E50D-33C3-4762-B2D8-FBA29613265A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949939" y="121921"/>
            <a:ext cx="1109938" cy="109727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DC2C37E-2017-922E-A2F2-20A223C114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7126" y="342900"/>
            <a:ext cx="9474792" cy="617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16443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F72953-7A74-4986-83D4-1A0803D475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2600" y="533400"/>
            <a:ext cx="8763000" cy="553998"/>
          </a:xfrm>
        </p:spPr>
        <p:txBody>
          <a:bodyPr/>
          <a:lstStyle/>
          <a:p>
            <a:pPr algn="ctr"/>
            <a:r>
              <a:rPr lang="en-IN" sz="3600" dirty="0"/>
              <a:t>Types of Derivational Processes</a:t>
            </a:r>
          </a:p>
        </p:txBody>
      </p:sp>
      <p:pic>
        <p:nvPicPr>
          <p:cNvPr id="5" name="object 3">
            <a:extLst>
              <a:ext uri="{FF2B5EF4-FFF2-40B4-BE49-F238E27FC236}">
                <a16:creationId xmlns:a16="http://schemas.microsoft.com/office/drawing/2014/main" id="{F88B50AB-F476-4626-92B3-829E40035B4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2888" y="229869"/>
            <a:ext cx="1343024" cy="1143000"/>
          </a:xfrm>
          <a:prstGeom prst="rect">
            <a:avLst/>
          </a:prstGeom>
        </p:spPr>
      </p:pic>
      <p:pic>
        <p:nvPicPr>
          <p:cNvPr id="6" name="object 4">
            <a:extLst>
              <a:ext uri="{FF2B5EF4-FFF2-40B4-BE49-F238E27FC236}">
                <a16:creationId xmlns:a16="http://schemas.microsoft.com/office/drawing/2014/main" id="{4BC6E50D-33C3-4762-B2D8-FBA29613265A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972800" y="229869"/>
            <a:ext cx="1109938" cy="109727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DE6A893-4B71-4991-6B56-85CE02DA3CD9}"/>
              </a:ext>
            </a:extLst>
          </p:cNvPr>
          <p:cNvSpPr txBox="1"/>
          <p:nvPr/>
        </p:nvSpPr>
        <p:spPr>
          <a:xfrm>
            <a:off x="2057400" y="1600200"/>
            <a:ext cx="75057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400" b="1" dirty="0"/>
              <a:t>Prefixation:</a:t>
            </a:r>
            <a:r>
              <a:rPr lang="en-IN" sz="2400" dirty="0"/>
              <a:t> Adding a prefix before a root word. Example: Possible → Impossible.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400" b="1" dirty="0"/>
              <a:t>Suffixation:</a:t>
            </a:r>
            <a:r>
              <a:rPr lang="en-IN" sz="2400" dirty="0"/>
              <a:t> Adding a suffix after a root word. Example: Develop → Development.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400" b="1" dirty="0"/>
              <a:t>Class-Changing Derivation:</a:t>
            </a:r>
            <a:r>
              <a:rPr lang="en-IN" sz="2400" dirty="0"/>
              <a:t> Changing the grammatical category. Example: Beauty → Beautiful.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400" b="1" dirty="0"/>
              <a:t>Class-Maintaining Derivation:</a:t>
            </a:r>
            <a:r>
              <a:rPr lang="en-IN" sz="2400" dirty="0"/>
              <a:t> Forming a related word without changing its grammatical category. Example: Happy → Unhappy.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400" dirty="0"/>
              <a:t>These processes create new vocabulary items and extend existing meanings.</a:t>
            </a:r>
          </a:p>
        </p:txBody>
      </p:sp>
    </p:spTree>
    <p:extLst>
      <p:ext uri="{BB962C8B-B14F-4D97-AF65-F5344CB8AC3E}">
        <p14:creationId xmlns:p14="http://schemas.microsoft.com/office/powerpoint/2010/main" val="16302906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F72953-7A74-4986-83D4-1A0803D475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520248"/>
            <a:ext cx="8968739" cy="553998"/>
          </a:xfrm>
        </p:spPr>
        <p:txBody>
          <a:bodyPr/>
          <a:lstStyle/>
          <a:p>
            <a:pPr algn="ctr"/>
            <a:r>
              <a:rPr lang="en-IN" sz="3600" dirty="0"/>
              <a:t>PREFIXES AND SUFFIXES</a:t>
            </a:r>
            <a:endParaRPr lang="en-IN" sz="3600" b="1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object 3">
            <a:extLst>
              <a:ext uri="{FF2B5EF4-FFF2-40B4-BE49-F238E27FC236}">
                <a16:creationId xmlns:a16="http://schemas.microsoft.com/office/drawing/2014/main" id="{F88B50AB-F476-4626-92B3-829E40035B4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2888" y="229869"/>
            <a:ext cx="1343024" cy="1143000"/>
          </a:xfrm>
          <a:prstGeom prst="rect">
            <a:avLst/>
          </a:prstGeom>
        </p:spPr>
      </p:pic>
      <p:pic>
        <p:nvPicPr>
          <p:cNvPr id="6" name="object 4">
            <a:extLst>
              <a:ext uri="{FF2B5EF4-FFF2-40B4-BE49-F238E27FC236}">
                <a16:creationId xmlns:a16="http://schemas.microsoft.com/office/drawing/2014/main" id="{4BC6E50D-33C3-4762-B2D8-FBA29613265A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949939" y="287914"/>
            <a:ext cx="1109938" cy="109727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B8CE4AA-C048-7A23-3893-5DB39A0CCF74}"/>
              </a:ext>
            </a:extLst>
          </p:cNvPr>
          <p:cNvSpPr txBox="1"/>
          <p:nvPr/>
        </p:nvSpPr>
        <p:spPr>
          <a:xfrm>
            <a:off x="381000" y="2045732"/>
            <a:ext cx="59436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Common Prefixes</a:t>
            </a:r>
            <a:endParaRPr lang="en-IN" sz="2400" dirty="0"/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400" dirty="0"/>
              <a:t>Un-: Opposite or not — Unhappy.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400" dirty="0"/>
              <a:t>Re-: Again — Rewrite.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400" dirty="0"/>
              <a:t>Dis-: Opposite or absence — Disagree.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400" dirty="0"/>
              <a:t>Mis-: Incorrectly — Misunderstand.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400" dirty="0"/>
              <a:t>Pre-: Before — Preview.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34132CF-2004-71A7-9B5C-04D7A04BE1A1}"/>
              </a:ext>
            </a:extLst>
          </p:cNvPr>
          <p:cNvSpPr txBox="1"/>
          <p:nvPr/>
        </p:nvSpPr>
        <p:spPr>
          <a:xfrm>
            <a:off x="6324600" y="2090172"/>
            <a:ext cx="5547852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Common Suffixes</a:t>
            </a:r>
            <a:endParaRPr lang="en-IN" sz="2400" dirty="0"/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400" dirty="0"/>
              <a:t>-ness: Forms nouns — Kindness.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400" dirty="0"/>
              <a:t>-er: Forms person nouns — Teacher.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400" dirty="0"/>
              <a:t>-</a:t>
            </a:r>
            <a:r>
              <a:rPr lang="en-IN" sz="2400" dirty="0" err="1"/>
              <a:t>ful</a:t>
            </a:r>
            <a:r>
              <a:rPr lang="en-IN" sz="2400" dirty="0"/>
              <a:t>: Forms adjectives — Helpful.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400" dirty="0"/>
              <a:t>-less: Without — Careless.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400" dirty="0"/>
              <a:t>-</a:t>
            </a:r>
            <a:r>
              <a:rPr lang="en-IN" sz="2400" dirty="0" err="1"/>
              <a:t>ment</a:t>
            </a:r>
            <a:r>
              <a:rPr lang="en-IN" sz="2400" dirty="0"/>
              <a:t>: Forms nouns — Development.</a:t>
            </a:r>
          </a:p>
        </p:txBody>
      </p:sp>
    </p:spTree>
    <p:extLst>
      <p:ext uri="{BB962C8B-B14F-4D97-AF65-F5344CB8AC3E}">
        <p14:creationId xmlns:p14="http://schemas.microsoft.com/office/powerpoint/2010/main" val="33115663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C26116-342D-687B-1097-7ECA95E34D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FEAB2-B19C-DE89-A1DB-ED2A288BEC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1500" y="352487"/>
            <a:ext cx="9268900" cy="1231106"/>
          </a:xfrm>
        </p:spPr>
        <p:txBody>
          <a:bodyPr/>
          <a:lstStyle/>
          <a:p>
            <a:pPr algn="ctr"/>
            <a:r>
              <a:rPr lang="en-IN" sz="4000" dirty="0"/>
              <a:t>PROPOSED SYSTEM AND WORKFLOW</a:t>
            </a:r>
            <a:endParaRPr lang="en-IN" sz="4000" b="1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object 3">
            <a:extLst>
              <a:ext uri="{FF2B5EF4-FFF2-40B4-BE49-F238E27FC236}">
                <a16:creationId xmlns:a16="http://schemas.microsoft.com/office/drawing/2014/main" id="{E116E355-77A9-56BE-D94F-4BBCEB51DA0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8476" y="106672"/>
            <a:ext cx="1343024" cy="1143000"/>
          </a:xfrm>
          <a:prstGeom prst="rect">
            <a:avLst/>
          </a:prstGeom>
        </p:spPr>
      </p:pic>
      <p:pic>
        <p:nvPicPr>
          <p:cNvPr id="6" name="object 4">
            <a:extLst>
              <a:ext uri="{FF2B5EF4-FFF2-40B4-BE49-F238E27FC236}">
                <a16:creationId xmlns:a16="http://schemas.microsoft.com/office/drawing/2014/main" id="{9C34B6CA-EDA9-4A54-619A-ADD905C5A904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978362" y="106672"/>
            <a:ext cx="1109938" cy="109727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9282683-8EAA-4B82-E3A5-B0331755E0C4}"/>
              </a:ext>
            </a:extLst>
          </p:cNvPr>
          <p:cNvSpPr txBox="1"/>
          <p:nvPr/>
        </p:nvSpPr>
        <p:spPr>
          <a:xfrm>
            <a:off x="949719" y="2060647"/>
            <a:ext cx="10292562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Accept a root word or sentence as input.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the root word and possible affixes.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derivational rules to recognize or generate related words.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the grammatical category of each derived word.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meaning using a dictionary or sentence context.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 the derived word, word category, and meaning.</a:t>
            </a:r>
          </a:p>
          <a:p>
            <a:pPr>
              <a:buNone/>
            </a:pP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Workflow: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Word → Root and Affix Identification → Derivational Analysis → Word-Class Identification → Semantic Interpretation → Output.</a:t>
            </a:r>
          </a:p>
        </p:txBody>
      </p:sp>
    </p:spTree>
    <p:extLst>
      <p:ext uri="{BB962C8B-B14F-4D97-AF65-F5344CB8AC3E}">
        <p14:creationId xmlns:p14="http://schemas.microsoft.com/office/powerpoint/2010/main" val="7826269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3347AF-984C-69ED-B471-813AED0919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A63D2A-3D2A-99BD-8E98-6CF81FA801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1500" y="558901"/>
            <a:ext cx="9268900" cy="615553"/>
          </a:xfrm>
        </p:spPr>
        <p:txBody>
          <a:bodyPr/>
          <a:lstStyle/>
          <a:p>
            <a:pPr algn="ctr"/>
            <a:r>
              <a:rPr lang="en-IN" sz="4000" dirty="0"/>
              <a:t>ALGORITHM DESIGN</a:t>
            </a:r>
            <a:endParaRPr lang="en-IN" sz="4000" b="1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object 3">
            <a:extLst>
              <a:ext uri="{FF2B5EF4-FFF2-40B4-BE49-F238E27FC236}">
                <a16:creationId xmlns:a16="http://schemas.microsoft.com/office/drawing/2014/main" id="{04FB8588-CB80-3CBC-D5C1-EC960C1133D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8476" y="106672"/>
            <a:ext cx="1343024" cy="1143000"/>
          </a:xfrm>
          <a:prstGeom prst="rect">
            <a:avLst/>
          </a:prstGeom>
        </p:spPr>
      </p:pic>
      <p:pic>
        <p:nvPicPr>
          <p:cNvPr id="6" name="object 4">
            <a:extLst>
              <a:ext uri="{FF2B5EF4-FFF2-40B4-BE49-F238E27FC236}">
                <a16:creationId xmlns:a16="http://schemas.microsoft.com/office/drawing/2014/main" id="{B25C38ED-FDC6-E2CC-2BE8-7AB160F1860C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978362" y="106672"/>
            <a:ext cx="1109938" cy="109727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03BE209-8D6D-F997-5291-B701762EE2C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5556" b="10000"/>
          <a:stretch>
            <a:fillRect/>
          </a:stretch>
        </p:blipFill>
        <p:spPr>
          <a:xfrm>
            <a:off x="2209800" y="1447800"/>
            <a:ext cx="7848600" cy="510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41093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2E9FB1-EFC8-E935-3404-C98DA699C2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F7C43C-8400-82EA-B755-50D7D495BA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1500" y="352487"/>
            <a:ext cx="9268900" cy="1231106"/>
          </a:xfrm>
        </p:spPr>
        <p:txBody>
          <a:bodyPr/>
          <a:lstStyle/>
          <a:p>
            <a:pPr algn="ctr"/>
            <a:r>
              <a:rPr lang="en-IN" sz="4000" dirty="0"/>
              <a:t>SEMANTIC INTERPRETATION AND TECHNICAL ANALYSIS</a:t>
            </a:r>
            <a:endParaRPr lang="en-IN" sz="4000" b="1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object 3">
            <a:extLst>
              <a:ext uri="{FF2B5EF4-FFF2-40B4-BE49-F238E27FC236}">
                <a16:creationId xmlns:a16="http://schemas.microsoft.com/office/drawing/2014/main" id="{1700562D-7734-7FF3-034E-D55330FD960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8476" y="106672"/>
            <a:ext cx="1343024" cy="1143000"/>
          </a:xfrm>
          <a:prstGeom prst="rect">
            <a:avLst/>
          </a:prstGeom>
        </p:spPr>
      </p:pic>
      <p:pic>
        <p:nvPicPr>
          <p:cNvPr id="6" name="object 4">
            <a:extLst>
              <a:ext uri="{FF2B5EF4-FFF2-40B4-BE49-F238E27FC236}">
                <a16:creationId xmlns:a16="http://schemas.microsoft.com/office/drawing/2014/main" id="{830355BF-C970-57DF-4F92-C19573E66404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978362" y="106672"/>
            <a:ext cx="1109938" cy="109727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ED8E93E-9B2F-755D-8C21-8F7EFA52F1F7}"/>
              </a:ext>
            </a:extLst>
          </p:cNvPr>
          <p:cNvSpPr txBox="1"/>
          <p:nvPr/>
        </p:nvSpPr>
        <p:spPr>
          <a:xfrm>
            <a:off x="838200" y="1676400"/>
            <a:ext cx="1051560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400" dirty="0"/>
              <a:t>Semantic interpretation identifies the meaning of a word.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400" dirty="0"/>
              <a:t>Derivation can modify, reverse, or extend the root meaning.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400" dirty="0"/>
              <a:t>Suffixes can change nouns into adjectives or verbs into nouns.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400" dirty="0"/>
              <a:t>Context helps distinguish between different interpretations.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400" dirty="0"/>
              <a:t>Morphological analysis supports automated vocabulary-learning tools.</a:t>
            </a:r>
          </a:p>
          <a:p>
            <a:endParaRPr lang="en-IN" sz="2400" dirty="0">
              <a:solidFill>
                <a:srgbClr val="FF0000"/>
              </a:solidFill>
            </a:endParaRPr>
          </a:p>
          <a:p>
            <a:r>
              <a:rPr lang="en-IN" sz="2400" dirty="0">
                <a:solidFill>
                  <a:srgbClr val="FF0000"/>
                </a:solidFill>
              </a:rPr>
              <a:t>Examples: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400" dirty="0"/>
              <a:t>Happy: An adjective expressing a positive emotional state.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400" dirty="0"/>
              <a:t>Unhappy: An adjective expressing the opposite state.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400" dirty="0"/>
              <a:t>Happiness: A noun referring to the state of being happy.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400" dirty="0"/>
              <a:t>Happily: An adverb describing how an action is performed.</a:t>
            </a:r>
          </a:p>
        </p:txBody>
      </p:sp>
    </p:spTree>
    <p:extLst>
      <p:ext uri="{BB962C8B-B14F-4D97-AF65-F5344CB8AC3E}">
        <p14:creationId xmlns:p14="http://schemas.microsoft.com/office/powerpoint/2010/main" val="36916032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BEF465-8C17-2028-D966-3CA5CA9596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75BE25-DC2C-7608-8A7B-3678AB61B3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1500" y="352487"/>
            <a:ext cx="9268900" cy="615553"/>
          </a:xfrm>
        </p:spPr>
        <p:txBody>
          <a:bodyPr/>
          <a:lstStyle/>
          <a:p>
            <a:pPr algn="ctr"/>
            <a:r>
              <a:rPr lang="en-IN" sz="4000" dirty="0"/>
              <a:t>PRACTICAL DEMONSTRATION</a:t>
            </a:r>
            <a:endParaRPr lang="en-IN" sz="4000" b="1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object 3">
            <a:extLst>
              <a:ext uri="{FF2B5EF4-FFF2-40B4-BE49-F238E27FC236}">
                <a16:creationId xmlns:a16="http://schemas.microsoft.com/office/drawing/2014/main" id="{061F8717-7E0B-C4E4-08EA-53C023919C22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8476" y="106672"/>
            <a:ext cx="1343024" cy="1143000"/>
          </a:xfrm>
          <a:prstGeom prst="rect">
            <a:avLst/>
          </a:prstGeom>
        </p:spPr>
      </p:pic>
      <p:pic>
        <p:nvPicPr>
          <p:cNvPr id="6" name="object 4">
            <a:extLst>
              <a:ext uri="{FF2B5EF4-FFF2-40B4-BE49-F238E27FC236}">
                <a16:creationId xmlns:a16="http://schemas.microsoft.com/office/drawing/2014/main" id="{95A255FF-561C-5418-DA34-F93B4B286B2A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978362" y="106672"/>
            <a:ext cx="1109938" cy="109727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E9A4FA6-AA01-D072-D653-54388C0507B3}"/>
              </a:ext>
            </a:extLst>
          </p:cNvPr>
          <p:cNvSpPr txBox="1"/>
          <p:nvPr/>
        </p:nvSpPr>
        <p:spPr>
          <a:xfrm>
            <a:off x="457200" y="1676400"/>
            <a:ext cx="115062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Root Word: CARE</a:t>
            </a:r>
            <a:endParaRPr lang="en-IN" sz="2400" dirty="0"/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400" dirty="0"/>
              <a:t>Careful = Care + -</a:t>
            </a:r>
            <a:r>
              <a:rPr lang="en-IN" sz="2400" dirty="0" err="1"/>
              <a:t>ful</a:t>
            </a:r>
            <a:r>
              <a:rPr lang="en-IN" sz="2400" dirty="0"/>
              <a:t> — Showing attention.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400" dirty="0"/>
              <a:t>Careless = Care + -less — Not taking sufficient care.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400" dirty="0"/>
              <a:t>Carefully = Careful + -</a:t>
            </a:r>
            <a:r>
              <a:rPr lang="en-IN" sz="2400" dirty="0" err="1"/>
              <a:t>ly</a:t>
            </a:r>
            <a:r>
              <a:rPr lang="en-IN" sz="2400" dirty="0"/>
              <a:t> — In an attentive manner.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400" dirty="0"/>
              <a:t>Carelessness = Careless + -ness — The state of not taking care.</a:t>
            </a:r>
          </a:p>
          <a:p>
            <a:endParaRPr lang="en-IN" sz="2400" b="1" dirty="0"/>
          </a:p>
          <a:p>
            <a:r>
              <a:rPr lang="en-IN" sz="2400" b="1" dirty="0"/>
              <a:t>Analysis:</a:t>
            </a:r>
            <a:endParaRPr lang="en-IN" sz="2400" dirty="0"/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400" dirty="0"/>
              <a:t>Identify the root word.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400" dirty="0"/>
              <a:t>Detect the suffixes.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400" dirty="0"/>
              <a:t>Observe the changes in meaning.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400" dirty="0"/>
              <a:t>Identify the grammatical category.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400" dirty="0"/>
              <a:t>Explain how one root generates several vocabulary items.</a:t>
            </a:r>
          </a:p>
        </p:txBody>
      </p:sp>
    </p:spTree>
    <p:extLst>
      <p:ext uri="{BB962C8B-B14F-4D97-AF65-F5344CB8AC3E}">
        <p14:creationId xmlns:p14="http://schemas.microsoft.com/office/powerpoint/2010/main" val="33568231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0B069-E636-E52D-CFE7-D3B2BA8BC7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BC90F-6D55-126B-E24B-CB38629C2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1500" y="352487"/>
            <a:ext cx="9268900" cy="615553"/>
          </a:xfrm>
        </p:spPr>
        <p:txBody>
          <a:bodyPr/>
          <a:lstStyle/>
          <a:p>
            <a:pPr algn="ctr"/>
            <a:r>
              <a:rPr lang="en-IN" sz="4000" dirty="0"/>
              <a:t>APPLICATIONS</a:t>
            </a:r>
            <a:endParaRPr lang="en-IN" sz="4000" b="1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object 3">
            <a:extLst>
              <a:ext uri="{FF2B5EF4-FFF2-40B4-BE49-F238E27FC236}">
                <a16:creationId xmlns:a16="http://schemas.microsoft.com/office/drawing/2014/main" id="{8A1E0937-29E5-F642-8F73-061E564C18EC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8476" y="106672"/>
            <a:ext cx="1343024" cy="1143000"/>
          </a:xfrm>
          <a:prstGeom prst="rect">
            <a:avLst/>
          </a:prstGeom>
        </p:spPr>
      </p:pic>
      <p:pic>
        <p:nvPicPr>
          <p:cNvPr id="6" name="object 4">
            <a:extLst>
              <a:ext uri="{FF2B5EF4-FFF2-40B4-BE49-F238E27FC236}">
                <a16:creationId xmlns:a16="http://schemas.microsoft.com/office/drawing/2014/main" id="{FBC5B34A-B4CD-3DEF-735C-1406B748B7EA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978362" y="106672"/>
            <a:ext cx="1109938" cy="109727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22545C7-F945-FFAF-1C28-95DFC0175158}"/>
              </a:ext>
            </a:extLst>
          </p:cNvPr>
          <p:cNvSpPr txBox="1"/>
          <p:nvPr/>
        </p:nvSpPr>
        <p:spPr>
          <a:xfrm>
            <a:off x="533400" y="1495487"/>
            <a:ext cx="6705600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400" b="1" dirty="0"/>
              <a:t>Education:</a:t>
            </a:r>
            <a:r>
              <a:rPr lang="en-IN" sz="2400" dirty="0"/>
              <a:t> Supports vocabulary development and language learning.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400" b="1" dirty="0"/>
              <a:t>Natural Language Processing:</a:t>
            </a:r>
            <a:r>
              <a:rPr lang="en-IN" sz="2400" dirty="0"/>
              <a:t> Helps </a:t>
            </a:r>
            <a:r>
              <a:rPr lang="en-IN" sz="2400" dirty="0" err="1"/>
              <a:t>analyze</a:t>
            </a:r>
            <a:r>
              <a:rPr lang="en-IN" sz="2400" dirty="0"/>
              <a:t> word structures and grammatical categories.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400" b="1" dirty="0"/>
              <a:t>Search Engines:</a:t>
            </a:r>
            <a:r>
              <a:rPr lang="en-IN" sz="2400" dirty="0"/>
              <a:t> Helps recognize related word forms in queries.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400" b="1" dirty="0"/>
              <a:t>Machine Translation:</a:t>
            </a:r>
            <a:r>
              <a:rPr lang="en-IN" sz="2400" dirty="0"/>
              <a:t> Provides morphological information for translation.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400" b="1" dirty="0"/>
              <a:t>Spell-Checking:</a:t>
            </a:r>
            <a:r>
              <a:rPr lang="en-IN" sz="2400" dirty="0"/>
              <a:t> Supports recognition of valid word forms.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400" b="1" dirty="0"/>
              <a:t>Text Analysis:</a:t>
            </a:r>
            <a:r>
              <a:rPr lang="en-IN" sz="2400" dirty="0"/>
              <a:t> Helps identify word usage and grammatical patterns.</a:t>
            </a:r>
          </a:p>
        </p:txBody>
      </p:sp>
      <p:pic>
        <p:nvPicPr>
          <p:cNvPr id="3" name="Picture 2" descr="Natural Language Processing Company | NLP Services">
            <a:extLst>
              <a:ext uri="{FF2B5EF4-FFF2-40B4-BE49-F238E27FC236}">
                <a16:creationId xmlns:a16="http://schemas.microsoft.com/office/drawing/2014/main" id="{6B5BC4C0-D1AC-D193-A3E6-EED909F131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4604" y="1449766"/>
            <a:ext cx="5076825" cy="4705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13862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412E67-3582-699D-2E88-D1BE8A20FA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8EA8CF-A045-327B-B82B-5B38FF363D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1500" y="352487"/>
            <a:ext cx="9268900" cy="615553"/>
          </a:xfrm>
        </p:spPr>
        <p:txBody>
          <a:bodyPr/>
          <a:lstStyle/>
          <a:p>
            <a:pPr algn="ctr"/>
            <a:r>
              <a:rPr lang="en-IN" sz="4000" dirty="0"/>
              <a:t>LIMITATIONS AND FUTURE SCOPE</a:t>
            </a:r>
            <a:endParaRPr lang="en-IN" sz="4000" b="1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object 3">
            <a:extLst>
              <a:ext uri="{FF2B5EF4-FFF2-40B4-BE49-F238E27FC236}">
                <a16:creationId xmlns:a16="http://schemas.microsoft.com/office/drawing/2014/main" id="{F85AB331-3E1E-F76E-771A-82CFC6A1588C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8476" y="106672"/>
            <a:ext cx="1343024" cy="1143000"/>
          </a:xfrm>
          <a:prstGeom prst="rect">
            <a:avLst/>
          </a:prstGeom>
        </p:spPr>
      </p:pic>
      <p:pic>
        <p:nvPicPr>
          <p:cNvPr id="6" name="object 4">
            <a:extLst>
              <a:ext uri="{FF2B5EF4-FFF2-40B4-BE49-F238E27FC236}">
                <a16:creationId xmlns:a16="http://schemas.microsoft.com/office/drawing/2014/main" id="{CAD32EF4-D283-663F-5FF4-637DA5295FE7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978362" y="106672"/>
            <a:ext cx="1109938" cy="109727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7A9FC24-38B9-0604-B118-9BE460D088C0}"/>
              </a:ext>
            </a:extLst>
          </p:cNvPr>
          <p:cNvSpPr txBox="1"/>
          <p:nvPr/>
        </p:nvSpPr>
        <p:spPr>
          <a:xfrm>
            <a:off x="685800" y="1371600"/>
            <a:ext cx="11506200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Limitations</a:t>
            </a:r>
            <a:endParaRPr lang="en-IN" sz="2400" dirty="0"/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400" dirty="0"/>
              <a:t>Not every word follows predictable derivational rules.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400" dirty="0"/>
              <a:t>The same affix can have different meanings.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400" dirty="0"/>
              <a:t>Some derived words have meanings that cannot be inferred directly from their parts.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400" dirty="0"/>
              <a:t>Context and language-specific rules influence interpretation.</a:t>
            </a:r>
          </a:p>
          <a:p>
            <a:endParaRPr lang="en-IN" sz="2400" b="1" dirty="0"/>
          </a:p>
          <a:p>
            <a:r>
              <a:rPr lang="en-IN" sz="2400" b="1" dirty="0"/>
              <a:t>Future Scope</a:t>
            </a:r>
            <a:endParaRPr lang="en-IN" sz="2400" dirty="0"/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400" dirty="0"/>
              <a:t>Extend the system to additional languages.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400" dirty="0"/>
              <a:t>Integrate dictionaries and NLP libraries.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400" dirty="0"/>
              <a:t>Use machine learning to improve contextual interpretation.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400" dirty="0"/>
              <a:t>Develop interactive vocabulary-learning exercises.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400" dirty="0"/>
              <a:t>Evaluate the system using a larger word dataset.</a:t>
            </a:r>
          </a:p>
        </p:txBody>
      </p:sp>
    </p:spTree>
    <p:extLst>
      <p:ext uri="{BB962C8B-B14F-4D97-AF65-F5344CB8AC3E}">
        <p14:creationId xmlns:p14="http://schemas.microsoft.com/office/powerpoint/2010/main" val="29819343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E56A64-D352-A41B-E093-42AD5D6332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1DD7D6-A44B-A154-0BA2-5ED8414CC4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1500" y="352487"/>
            <a:ext cx="9268900" cy="615553"/>
          </a:xfrm>
        </p:spPr>
        <p:txBody>
          <a:bodyPr/>
          <a:lstStyle/>
          <a:p>
            <a:pPr algn="ctr"/>
            <a:r>
              <a:rPr lang="en-IN" sz="4000" dirty="0"/>
              <a:t>CONCLUSION</a:t>
            </a:r>
            <a:endParaRPr lang="en-IN" sz="4000" b="1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object 3">
            <a:extLst>
              <a:ext uri="{FF2B5EF4-FFF2-40B4-BE49-F238E27FC236}">
                <a16:creationId xmlns:a16="http://schemas.microsoft.com/office/drawing/2014/main" id="{C6BC46D1-2EB4-4B17-654D-6CC1C031D5C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8476" y="106672"/>
            <a:ext cx="1343024" cy="1143000"/>
          </a:xfrm>
          <a:prstGeom prst="rect">
            <a:avLst/>
          </a:prstGeom>
        </p:spPr>
      </p:pic>
      <p:pic>
        <p:nvPicPr>
          <p:cNvPr id="6" name="object 4">
            <a:extLst>
              <a:ext uri="{FF2B5EF4-FFF2-40B4-BE49-F238E27FC236}">
                <a16:creationId xmlns:a16="http://schemas.microsoft.com/office/drawing/2014/main" id="{D906DC81-D745-C947-F02F-D70EF0EDAFF8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978362" y="106672"/>
            <a:ext cx="1109938" cy="109727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FAB8C83-7A28-66C3-240B-2A7B98A76160}"/>
              </a:ext>
            </a:extLst>
          </p:cNvPr>
          <p:cNvSpPr txBox="1"/>
          <p:nvPr/>
        </p:nvSpPr>
        <p:spPr>
          <a:xfrm>
            <a:off x="990600" y="1471642"/>
            <a:ext cx="65532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400" dirty="0"/>
              <a:t>Derivational morphology is an important process of word formation.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400" dirty="0"/>
              <a:t>Prefixes and suffixes create new words and expand vocabulary.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400" dirty="0"/>
              <a:t>Derived words may differ in meaning and grammatical category.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400" dirty="0"/>
              <a:t>Understanding roots and affixes helps learners interpret unfamiliar words.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400" dirty="0"/>
              <a:t>Morphological analysis supports applications in education and NLP.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400" dirty="0"/>
              <a:t>Contextual analysis can improve language understanding.</a:t>
            </a:r>
          </a:p>
        </p:txBody>
      </p:sp>
      <p:pic>
        <p:nvPicPr>
          <p:cNvPr id="3" name="Picture 2" descr="Introduction to Natural Language Processing (NLP) | W3information.com">
            <a:extLst>
              <a:ext uri="{FF2B5EF4-FFF2-40B4-BE49-F238E27FC236}">
                <a16:creationId xmlns:a16="http://schemas.microsoft.com/office/drawing/2014/main" id="{C43046EA-4D38-EDBA-0B5A-EC8DF46D37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96200" y="1524000"/>
            <a:ext cx="4389642" cy="441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6192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F98A7C-2195-84C1-329D-E3018B38D9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70B4D4-E18D-FEF6-D1E1-7028661F56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1500" y="352487"/>
            <a:ext cx="9268900" cy="615553"/>
          </a:xfrm>
        </p:spPr>
        <p:txBody>
          <a:bodyPr/>
          <a:lstStyle/>
          <a:p>
            <a:pPr algn="ctr"/>
            <a:r>
              <a:rPr lang="en-IN" sz="4000" dirty="0"/>
              <a:t>REFERENCES</a:t>
            </a:r>
          </a:p>
        </p:txBody>
      </p:sp>
      <p:pic>
        <p:nvPicPr>
          <p:cNvPr id="5" name="object 3">
            <a:extLst>
              <a:ext uri="{FF2B5EF4-FFF2-40B4-BE49-F238E27FC236}">
                <a16:creationId xmlns:a16="http://schemas.microsoft.com/office/drawing/2014/main" id="{EA587543-EF7F-699B-4CE7-A888E3C4B27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8476" y="106672"/>
            <a:ext cx="1343024" cy="1143000"/>
          </a:xfrm>
          <a:prstGeom prst="rect">
            <a:avLst/>
          </a:prstGeom>
        </p:spPr>
      </p:pic>
      <p:pic>
        <p:nvPicPr>
          <p:cNvPr id="6" name="object 4">
            <a:extLst>
              <a:ext uri="{FF2B5EF4-FFF2-40B4-BE49-F238E27FC236}">
                <a16:creationId xmlns:a16="http://schemas.microsoft.com/office/drawing/2014/main" id="{EBBCCF80-17BE-1D40-F55B-2CFF4F320345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978362" y="106672"/>
            <a:ext cx="1109938" cy="109727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7532F26-B7E1-CF88-6DFB-2BA5982BFF89}"/>
              </a:ext>
            </a:extLst>
          </p:cNvPr>
          <p:cNvSpPr txBox="1"/>
          <p:nvPr/>
        </p:nvSpPr>
        <p:spPr>
          <a:xfrm>
            <a:off x="890050" y="1371600"/>
            <a:ext cx="10591800" cy="5170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V. Hofmann, J.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Pierrehumbert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H. Schütze, “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Superbizarre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not superb: Derivational morphology improves BERT’s interpretation of complex words,” in </a:t>
            </a:r>
            <a:r>
              <a:rPr lang="en-IN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Proc. 59th Annu. Meeting Assoc. </a:t>
            </a:r>
            <a:r>
              <a:rPr lang="en-IN" sz="2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Comput</a:t>
            </a:r>
            <a:r>
              <a:rPr lang="en-IN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Linguistics and 11th Int. Joint Conf. Natural Language Processing (ACL-IJCNLP)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2021, pp. 3594–3608,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10.18653/v1/2021.acl-long.279.</a:t>
            </a:r>
          </a:p>
          <a:p>
            <a:pPr algn="just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D.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Leontjev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A. Huhta, and A. Tolvanen, “L2 English vocabulary breadth and knowledge of derivational morphology: One or two constructs?,” </a:t>
            </a:r>
            <a:r>
              <a:rPr lang="en-IN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Language Testing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40, no. 2, pp. 300–324, 2023,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10.1177/02655322221114015.</a:t>
            </a:r>
          </a:p>
          <a:p>
            <a:pPr algn="just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U. Nathaniel </a:t>
            </a:r>
            <a:r>
              <a:rPr lang="en-IN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 al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., “Decomposition in early stages of learning novel morphologically derived words: The impact of linear vs. non-linear structure,” </a:t>
            </a:r>
            <a:r>
              <a:rPr lang="en-IN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Cognition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240, Art. no. 105604, 2024,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10.1016/j.cognition.2023.105604.</a:t>
            </a:r>
          </a:p>
          <a:p>
            <a:pPr algn="just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 J. Baxi and B. Bhatt, “Recent advancements in computational morphology: A comprehensive survey,” </a:t>
            </a:r>
            <a:r>
              <a:rPr lang="en-IN" sz="2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-IN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preprint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arXiv:2406.05424, 2024,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10.48550/arXiv.2406.05424.</a:t>
            </a:r>
          </a:p>
          <a:p>
            <a:pPr algn="just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 S. Moeller, “Computational morphology for language documentation and description,” </a:t>
            </a:r>
            <a:r>
              <a:rPr lang="en-IN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Colorado Research in Linguistics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25, 2021,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10.33011/cril.v25i.1051.</a:t>
            </a:r>
          </a:p>
        </p:txBody>
      </p:sp>
    </p:spTree>
    <p:extLst>
      <p:ext uri="{BB962C8B-B14F-4D97-AF65-F5344CB8AC3E}">
        <p14:creationId xmlns:p14="http://schemas.microsoft.com/office/powerpoint/2010/main" val="11700337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/>
          <p:cNvSpPr txBox="1"/>
          <p:nvPr/>
        </p:nvSpPr>
        <p:spPr>
          <a:xfrm>
            <a:off x="3048000" y="2829560"/>
            <a:ext cx="603313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698</TotalTime>
  <Words>1272</Words>
  <Application>Microsoft Office PowerPoint</Application>
  <PresentationFormat>Widescreen</PresentationFormat>
  <Paragraphs>146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Calibri</vt:lpstr>
      <vt:lpstr>Times New Roman</vt:lpstr>
      <vt:lpstr>Wingdings</vt:lpstr>
      <vt:lpstr>Office Theme</vt:lpstr>
      <vt:lpstr>PowerPoint Presentation</vt:lpstr>
      <vt:lpstr>INTRODUCTION</vt:lpstr>
      <vt:lpstr>Aim and Objectives</vt:lpstr>
      <vt:lpstr>Basic Concepts of Morphology</vt:lpstr>
      <vt:lpstr>Derivational vs. Inflectional Morphology</vt:lpstr>
      <vt:lpstr>PROBLEM STATEMENT AND RESEARCH GAP</vt:lpstr>
      <vt:lpstr>PowerPoint Presentation</vt:lpstr>
      <vt:lpstr>Types of Derivational Processes</vt:lpstr>
      <vt:lpstr>PREFIXES AND SUFFIXES</vt:lpstr>
      <vt:lpstr>PROPOSED SYSTEM AND WORKFLOW</vt:lpstr>
      <vt:lpstr>ALGORITHM DESIGN</vt:lpstr>
      <vt:lpstr>SEMANTIC INTERPRETATION AND TECHNICAL ANALYSIS</vt:lpstr>
      <vt:lpstr>PRACTICAL DEMONSTRATION</vt:lpstr>
      <vt:lpstr>APPLICATIONS</vt:lpstr>
      <vt:lpstr>LIMITATIONS AND FUTURE SCOPE</vt:lpstr>
      <vt:lpstr>CONCLUSION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SIMATS ENGINEERING SAVEETHA INSTITUTE OF MEDICAL AND TECHNICAL SCIENCES</dc:title>
  <dc:creator>LENOVO</dc:creator>
  <cp:lastModifiedBy>Yoga Madha</cp:lastModifiedBy>
  <cp:revision>31</cp:revision>
  <dcterms:created xsi:type="dcterms:W3CDTF">2025-12-24T03:01:00Z</dcterms:created>
  <dcterms:modified xsi:type="dcterms:W3CDTF">2026-10-12T08:44:23Z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2025-12-24T11:00:00Z</vt:filetime>
  </property>
  <property fmtid="{D5CDD505-2E9C-101B-9397-08002B2CF9AE}" pid="3" name="LastSaved">
    <vt:filetime>2025-12-24T11:00:00Z</vt:filetime>
  </property>
  <property fmtid="{D5CDD505-2E9C-101B-9397-08002B2CF9AE}" pid="4" name="ICV">
    <vt:lpwstr>65C4E49682984BF98145F6A23285ED7B_12</vt:lpwstr>
  </property>
  <property fmtid="{D5CDD505-2E9C-101B-9397-08002B2CF9AE}" pid="5" name="KSOProductBuildVer">
    <vt:lpwstr>1033-12.2.0.23196</vt:lpwstr>
  </property>
</Properties>
</file>